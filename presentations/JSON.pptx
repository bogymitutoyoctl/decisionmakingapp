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0"/>
  </p:notesMasterIdLst>
  <p:handoutMasterIdLst>
    <p:handoutMasterId r:id="rId11"/>
  </p:handoutMasterIdLst>
  <p:sldIdLst>
    <p:sldId id="256" r:id="rId3"/>
    <p:sldId id="261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10E6BEA8-339C-4439-8385-8B472A06F5BD}">
          <p14:sldIdLst>
            <p14:sldId id="256"/>
          </p14:sldIdLst>
        </p14:section>
        <p14:section name="JSON Datenformat" id="{EB7416D2-FE43-421A-A82D-DCCB9519097D}">
          <p14:sldIdLst>
            <p14:sldId id="261"/>
            <p14:sldId id="260"/>
            <p14:sldId id="262"/>
            <p14:sldId id="263"/>
          </p14:sldIdLst>
        </p14:section>
        <p14:section name="JSON in Android" id="{E93184E5-A741-4A97-BDBA-AC20737CED64}">
          <p14:sldIdLst>
            <p14:sldId id="264"/>
            <p14:sldId id="265"/>
          </p14:sldIdLst>
        </p14:section>
        <p14:section name="Zusammenfassung" id="{3935168F-CA97-4DBE-AA4D-CD6487E81BA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6D3"/>
    <a:srgbClr val="336DA6"/>
    <a:srgbClr val="0031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339" autoAdjust="0"/>
  </p:normalViewPr>
  <p:slideViewPr>
    <p:cSldViewPr snapToGrid="0">
      <p:cViewPr varScale="1">
        <p:scale>
          <a:sx n="88" d="100"/>
          <a:sy n="88" d="100"/>
        </p:scale>
        <p:origin x="139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51555" y="229394"/>
            <a:ext cx="4820356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71911" y="229394"/>
            <a:ext cx="1123244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1C649-7A39-401D-9C20-CE823C3B32D5}" type="datetimeFigureOut">
              <a:rPr lang="de-DE" smtClean="0">
                <a:solidFill>
                  <a:schemeClr val="tx2"/>
                </a:solidFill>
              </a:rPr>
              <a:t>12.01.2026</a:t>
            </a:fld>
            <a:endParaRPr lang="de-DE">
              <a:solidFill>
                <a:schemeClr val="tx2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51555" y="8455819"/>
            <a:ext cx="4820356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solidFill>
                <a:schemeClr val="tx2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271911" y="8455819"/>
            <a:ext cx="1123244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7E42B-5E4C-4786-B9D6-102E78431102}" type="slidenum">
              <a:rPr lang="de-DE" smtClean="0">
                <a:solidFill>
                  <a:schemeClr val="tx2"/>
                </a:solidFill>
              </a:rPr>
              <a:t>‹#›</a:t>
            </a:fld>
            <a:endParaRPr lang="de-DE">
              <a:solidFill>
                <a:schemeClr val="tx2"/>
              </a:solidFill>
            </a:endParaRPr>
          </a:p>
        </p:txBody>
      </p:sp>
      <p:cxnSp>
        <p:nvCxnSpPr>
          <p:cNvPr id="6" name="Straight Connector 6"/>
          <p:cNvCxnSpPr/>
          <p:nvPr/>
        </p:nvCxnSpPr>
        <p:spPr>
          <a:xfrm>
            <a:off x="451555" y="695352"/>
            <a:ext cx="5943600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/>
        </p:nvCxnSpPr>
        <p:spPr>
          <a:xfrm>
            <a:off x="451555" y="8455819"/>
            <a:ext cx="5943600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uppieren 9"/>
          <p:cNvGrpSpPr/>
          <p:nvPr/>
        </p:nvGrpSpPr>
        <p:grpSpPr>
          <a:xfrm>
            <a:off x="6018955" y="8205168"/>
            <a:ext cx="562467" cy="501300"/>
            <a:chOff x="11460199" y="6030240"/>
            <a:chExt cx="731801" cy="652219"/>
          </a:xfrm>
        </p:grpSpPr>
        <p:pic>
          <p:nvPicPr>
            <p:cNvPr id="11" name="Grafik 10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259"/>
            <a:stretch/>
          </p:blipFill>
          <p:spPr>
            <a:xfrm>
              <a:off x="11460199" y="6030240"/>
              <a:ext cx="625401" cy="652219"/>
            </a:xfrm>
            <a:prstGeom prst="rect">
              <a:avLst/>
            </a:prstGeom>
          </p:spPr>
        </p:pic>
        <p:sp>
          <p:nvSpPr>
            <p:cNvPr id="12" name="Rechteck 11"/>
            <p:cNvSpPr/>
            <p:nvPr userDrawn="1"/>
          </p:nvSpPr>
          <p:spPr>
            <a:xfrm>
              <a:off x="12085600" y="6030240"/>
              <a:ext cx="106400" cy="6522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17104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85800" y="229393"/>
            <a:ext cx="4270022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955822" y="229393"/>
            <a:ext cx="1063133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4113CCE-1A1A-46DB-884A-AE560F65C3AF}" type="datetimeFigureOut">
              <a:rPr lang="de-DE" smtClean="0"/>
              <a:pPr/>
              <a:t>12.01.2026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4270022" cy="2401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3870997"/>
            <a:ext cx="5486400" cy="41300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685800" y="8415424"/>
            <a:ext cx="4270022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955822" y="8429769"/>
            <a:ext cx="106313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927DBD90-B360-417B-B4B3-F05A4AFC1996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8" name="Straight Connector 6"/>
          <p:cNvCxnSpPr/>
          <p:nvPr/>
        </p:nvCxnSpPr>
        <p:spPr>
          <a:xfrm>
            <a:off x="685800" y="695352"/>
            <a:ext cx="5486400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6"/>
          <p:cNvCxnSpPr>
            <a:endCxn id="12" idx="1"/>
          </p:cNvCxnSpPr>
          <p:nvPr/>
        </p:nvCxnSpPr>
        <p:spPr>
          <a:xfrm>
            <a:off x="685800" y="8422596"/>
            <a:ext cx="5333155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pieren 10"/>
          <p:cNvGrpSpPr/>
          <p:nvPr/>
        </p:nvGrpSpPr>
        <p:grpSpPr>
          <a:xfrm>
            <a:off x="6018955" y="8096486"/>
            <a:ext cx="731801" cy="652219"/>
            <a:chOff x="11460199" y="6030240"/>
            <a:chExt cx="731801" cy="652219"/>
          </a:xfrm>
        </p:grpSpPr>
        <p:pic>
          <p:nvPicPr>
            <p:cNvPr id="12" name="Grafik 1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259"/>
            <a:stretch/>
          </p:blipFill>
          <p:spPr>
            <a:xfrm>
              <a:off x="11460199" y="6030240"/>
              <a:ext cx="625401" cy="652219"/>
            </a:xfrm>
            <a:prstGeom prst="rect">
              <a:avLst/>
            </a:prstGeom>
          </p:spPr>
        </p:pic>
        <p:sp>
          <p:nvSpPr>
            <p:cNvPr id="13" name="Rechteck 12"/>
            <p:cNvSpPr/>
            <p:nvPr userDrawn="1"/>
          </p:nvSpPr>
          <p:spPr>
            <a:xfrm>
              <a:off x="12085600" y="6030240"/>
              <a:ext cx="106400" cy="6522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6007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4270375" cy="2401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l,b,h könnte verwendet werden, um weniger Daten zu übertragen.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DBD90-B360-417B-B4B3-F05A4AFC1996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798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32502" y="1916113"/>
            <a:ext cx="10521297" cy="1619000"/>
          </a:xfrm>
        </p:spPr>
        <p:txBody>
          <a:bodyPr anchor="b"/>
          <a:lstStyle>
            <a:lvl1pPr algn="l"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32503" y="3602038"/>
            <a:ext cx="10521296" cy="6191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04D27-7E44-4F0C-9F19-4C73A36B443F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61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081088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520825"/>
            <a:ext cx="5181600" cy="464502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520825"/>
            <a:ext cx="5181600" cy="464502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3813C-3557-47D4-BD06-47369E45BEFC}" type="datetime1">
              <a:rPr lang="de-DE" smtClean="0"/>
              <a:t>12.01.2026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517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E300-33CB-4EA8-BEBC-F12BFD885AF3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39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peri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520825"/>
            <a:ext cx="9271475" cy="464502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40-22C8-4480-AA6F-5803196F40C9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90" y="2725781"/>
            <a:ext cx="1396945" cy="223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2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08D-E692-473B-A3C7-F97D4D5CA9B4}" type="datetime1">
              <a:rPr lang="de-DE" smtClean="0"/>
              <a:t>12.01.2026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335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919-1A13-4F43-B4AE-128960ED8538}" type="datetime1">
              <a:rPr lang="de-DE" smtClean="0"/>
              <a:t>12.01.2026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23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ndere Med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Andere Medien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DBEC-3FD9-4D15-AB8E-AE36505FE94D}" type="datetime1">
              <a:rPr lang="de-DE" smtClean="0"/>
              <a:t>12.01.2026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753" y="2279787"/>
            <a:ext cx="1370494" cy="344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0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893" y="2914649"/>
            <a:ext cx="2210213" cy="221021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17198-2B78-4B42-9998-03898C1325DD}" type="datetime1">
              <a:rPr lang="de-DE" smtClean="0"/>
              <a:t>12.01.2026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02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344" y="175075"/>
            <a:ext cx="1035738" cy="103573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9AB3-F30F-4964-AF4C-8479FD36CD3A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99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usammenfass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154" y="102885"/>
            <a:ext cx="1180118" cy="118011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Zusammenfassung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A4799-483C-42F6-9AEF-DB6301B2FCA6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28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955" y="2696647"/>
            <a:ext cx="2532090" cy="253209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Fragen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A9DF0-8C6A-4FF8-89B1-157EFF7FF384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685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6"/>
          <p:cNvSpPr/>
          <p:nvPr userDrawn="1"/>
        </p:nvSpPr>
        <p:spPr>
          <a:xfrm>
            <a:off x="0" y="0"/>
            <a:ext cx="12192000" cy="3167743"/>
          </a:xfrm>
          <a:prstGeom prst="rect">
            <a:avLst/>
          </a:prstGeom>
          <a:gradFill>
            <a:gsLst>
              <a:gs pos="50000">
                <a:srgbClr val="336DA6">
                  <a:alpha val="50000"/>
                </a:srgbClr>
              </a:gs>
              <a:gs pos="0">
                <a:srgbClr val="336DA6">
                  <a:alpha val="0"/>
                </a:srgbClr>
              </a:gs>
              <a:gs pos="100000">
                <a:srgbClr val="336DA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/>
          <p:cNvSpPr/>
          <p:nvPr userDrawn="1"/>
        </p:nvSpPr>
        <p:spPr>
          <a:xfrm>
            <a:off x="0" y="3167743"/>
            <a:ext cx="12192000" cy="1094015"/>
          </a:xfrm>
          <a:prstGeom prst="rect">
            <a:avLst/>
          </a:prstGeom>
          <a:solidFill>
            <a:srgbClr val="336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6"/>
          <p:cNvCxnSpPr/>
          <p:nvPr userDrawn="1"/>
        </p:nvCxnSpPr>
        <p:spPr>
          <a:xfrm>
            <a:off x="0" y="4261758"/>
            <a:ext cx="12192000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3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916113"/>
            <a:ext cx="10515600" cy="2305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432550"/>
            <a:ext cx="1067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DA96C39-B708-4EA9-970B-C2C297F76F8D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016807" y="6432550"/>
            <a:ext cx="846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Datenspeicherung mit JSON in Android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30968" y="6432550"/>
            <a:ext cx="7228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A1F27E2-D58A-4028-9FF2-B12D897F257E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9" name="Straight Connector 6"/>
          <p:cNvCxnSpPr/>
          <p:nvPr userDrawn="1"/>
        </p:nvCxnSpPr>
        <p:spPr>
          <a:xfrm>
            <a:off x="0" y="6356350"/>
            <a:ext cx="12192000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57" y="5215200"/>
            <a:ext cx="1909763" cy="47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orient="horz" pos="232" userDrawn="1">
          <p15:clr>
            <a:srgbClr val="F26B43"/>
          </p15:clr>
        </p15:guide>
        <p15:guide id="3" orient="horz" pos="1026" userDrawn="1">
          <p15:clr>
            <a:srgbClr val="F26B43"/>
          </p15:clr>
        </p15:guide>
        <p15:guide id="4" orient="horz" pos="1207" userDrawn="1">
          <p15:clr>
            <a:srgbClr val="F26B43"/>
          </p15:clr>
        </p15:guide>
        <p15:guide id="5" orient="horz" pos="2659" userDrawn="1">
          <p15:clr>
            <a:srgbClr val="F26B43"/>
          </p15:clr>
        </p15:guide>
        <p15:guide id="6" pos="715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4013" cy="108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520825"/>
            <a:ext cx="10514013" cy="464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432550"/>
            <a:ext cx="1067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332151A-9A92-4361-91C6-2194BECFE311}" type="datetime1">
              <a:rPr lang="de-DE" smtClean="0"/>
              <a:t>12.01.2026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016807" y="6432550"/>
            <a:ext cx="846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Datenspeicherung mit JSON in Android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30968" y="6432550"/>
            <a:ext cx="7212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A1F27E2-D58A-4028-9FF2-B12D897F257E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380934"/>
            <a:ext cx="12192000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>
            <a:cxnSpLocks/>
          </p:cNvCxnSpPr>
          <p:nvPr userDrawn="1"/>
        </p:nvCxnSpPr>
        <p:spPr>
          <a:xfrm flipV="1">
            <a:off x="0" y="6356349"/>
            <a:ext cx="8892073" cy="1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C4559D41-751B-4D7C-9655-A7134109513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663" y="6151561"/>
            <a:ext cx="1638305" cy="409577"/>
          </a:xfrm>
          <a:prstGeom prst="rect">
            <a:avLst/>
          </a:prstGeom>
        </p:spPr>
      </p:pic>
      <p:cxnSp>
        <p:nvCxnSpPr>
          <p:cNvPr id="14" name="Straight Connector 6">
            <a:extLst>
              <a:ext uri="{FF2B5EF4-FFF2-40B4-BE49-F238E27FC236}">
                <a16:creationId xmlns:a16="http://schemas.microsoft.com/office/drawing/2014/main" id="{C797F233-091D-4DE9-86F5-01F20A8E02B8}"/>
              </a:ext>
            </a:extLst>
          </p:cNvPr>
          <p:cNvCxnSpPr>
            <a:cxnSpLocks/>
          </p:cNvCxnSpPr>
          <p:nvPr userDrawn="1"/>
        </p:nvCxnSpPr>
        <p:spPr>
          <a:xfrm>
            <a:off x="10711543" y="6356349"/>
            <a:ext cx="1480457" cy="0"/>
          </a:xfrm>
          <a:prstGeom prst="line">
            <a:avLst/>
          </a:prstGeom>
          <a:ln w="25400">
            <a:solidFill>
              <a:srgbClr val="F479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61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67" r:id="rId3"/>
    <p:sldLayoutId id="2147483660" r:id="rId4"/>
    <p:sldLayoutId id="2147483661" r:id="rId5"/>
    <p:sldLayoutId id="2147483665" r:id="rId6"/>
    <p:sldLayoutId id="2147483666" r:id="rId7"/>
    <p:sldLayoutId id="2147483662" r:id="rId8"/>
    <p:sldLayoutId id="2147483663" r:id="rId9"/>
    <p:sldLayoutId id="2147483664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96" userDrawn="1">
          <p15:clr>
            <a:srgbClr val="F26B43"/>
          </p15:clr>
        </p15:guide>
        <p15:guide id="4" orient="horz" pos="958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pos="3795" userDrawn="1">
          <p15:clr>
            <a:srgbClr val="F26B43"/>
          </p15:clr>
        </p15:guide>
        <p15:guide id="7" pos="3885" userDrawn="1">
          <p15:clr>
            <a:srgbClr val="F26B43"/>
          </p15:clr>
        </p15:guide>
        <p15:guide id="8" orient="horz" pos="7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lint.com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Datenspeicherung / Persistenz	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Daten auf Anroid abspeichern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C9BB-0CDC-4713-A7B6-CCAF94EDC0E0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99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als Datenformat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JSON ist derzeit beliebt</a:t>
            </a:r>
          </a:p>
          <a:p>
            <a:r>
              <a:rPr lang="de-DE" dirty="0"/>
              <a:t>Textformat</a:t>
            </a:r>
          </a:p>
          <a:p>
            <a:pPr lvl="1"/>
            <a:r>
              <a:rPr lang="de-DE" dirty="0"/>
              <a:t>Komprimierbar</a:t>
            </a:r>
          </a:p>
          <a:p>
            <a:pPr lvl="1"/>
            <a:r>
              <a:rPr lang="de-DE" dirty="0"/>
              <a:t>"Menschenlesbar"</a:t>
            </a:r>
          </a:p>
          <a:p>
            <a:pPr lvl="1"/>
            <a:r>
              <a:rPr lang="de-DE" dirty="0"/>
              <a:t>Diffbar</a:t>
            </a:r>
          </a:p>
          <a:p>
            <a:r>
              <a:rPr lang="de-DE" dirty="0"/>
              <a:t>Datenmenge: mittel</a:t>
            </a:r>
          </a:p>
          <a:p>
            <a:pPr lvl="1"/>
            <a:r>
              <a:rPr lang="de-DE" dirty="0"/>
              <a:t>Deutlich kürzer als XML</a:t>
            </a:r>
          </a:p>
          <a:p>
            <a:pPr lvl="1"/>
            <a:r>
              <a:rPr lang="de-DE" dirty="0"/>
              <a:t>Länger als Binärdaten </a:t>
            </a:r>
            <a:r>
              <a:rPr lang="de-DE" dirty="0">
                <a:sym typeface="Wingdings" panose="05000000000000000000" pitchFamily="2" charset="2"/>
              </a:rPr>
              <a:t> Kompression</a:t>
            </a:r>
            <a:endParaRPr lang="de-DE" dirty="0"/>
          </a:p>
          <a:p>
            <a:r>
              <a:rPr lang="de-DE" dirty="0"/>
              <a:t>Bibliotheken für vermutlich alle Programmiersprachen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92BA-0C89-4D40-A708-3C30FC0D9C0B}" type="datetime1">
              <a:rPr lang="de-DE" smtClean="0"/>
              <a:t>12.01.2026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25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JSON = JavaScript Object Notation</a:t>
            </a:r>
          </a:p>
          <a:p>
            <a:r>
              <a:rPr lang="de-DE" dirty="0"/>
              <a:t>!= wie Objekte in JavaScript aufgeschrieben werden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{}</a:t>
            </a:r>
            <a:r>
              <a:rPr lang="de-DE" dirty="0"/>
              <a:t> 				ein Objekt (ohne Typangabe)</a:t>
            </a:r>
          </a:p>
          <a:p>
            <a:pPr marL="0" indent="0">
              <a:buNone/>
            </a:pP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chemeClr val="accent3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": </a:t>
            </a:r>
            <a:r>
              <a:rPr lang="de-DE" dirty="0">
                <a:solidFill>
                  <a:schemeClr val="accent3"/>
                </a:solidFill>
                <a:latin typeface="Consolas" panose="020B0609020204030204" pitchFamily="49" charset="0"/>
              </a:rPr>
              <a:t>value</a:t>
            </a:r>
            <a:r>
              <a:rPr lang="de-DE" dirty="0"/>
              <a:t>		Eigenschaft(en) eines Objekts</a:t>
            </a:r>
          </a:p>
          <a:p>
            <a:pPr marL="0" indent="0">
              <a:buNone/>
            </a:pP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[]</a:t>
            </a:r>
            <a:r>
              <a:rPr lang="de-DE" dirty="0"/>
              <a:t> 				ein Array oder eine Liste</a:t>
            </a:r>
          </a:p>
          <a:p>
            <a:pPr marL="0" indent="0">
              <a:buNone/>
            </a:pPr>
            <a:r>
              <a:rPr lang="de-DE" dirty="0">
                <a:solidFill>
                  <a:schemeClr val="accent3"/>
                </a:solidFill>
                <a:latin typeface="Consolas" panose="020B0609020204030204" pitchFamily="49" charset="0"/>
              </a:rPr>
              <a:t>1</a:t>
            </a:r>
            <a:r>
              <a:rPr lang="de-DE" dirty="0"/>
              <a:t> / </a:t>
            </a:r>
            <a:r>
              <a:rPr lang="de-DE" dirty="0">
                <a:solidFill>
                  <a:schemeClr val="accent3"/>
                </a:solidFill>
                <a:latin typeface="Consolas" panose="020B0609020204030204" pitchFamily="49" charset="0"/>
              </a:rPr>
              <a:t>1.1</a:t>
            </a:r>
            <a:r>
              <a:rPr lang="de-DE" dirty="0"/>
              <a:t>			ein numerischer Wert (int oder double)</a:t>
            </a:r>
          </a:p>
          <a:p>
            <a:pPr marL="0" indent="0">
              <a:buNone/>
            </a:pP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chemeClr val="accent3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"</a:t>
            </a:r>
            <a:r>
              <a:rPr lang="de-DE" dirty="0"/>
              <a:t>			ein String</a:t>
            </a:r>
          </a:p>
          <a:p>
            <a:pPr marL="0" indent="0">
              <a:buNone/>
            </a:pP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true</a:t>
            </a:r>
            <a:r>
              <a:rPr lang="de-DE" dirty="0"/>
              <a:t> / </a:t>
            </a: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false</a:t>
            </a:r>
            <a:r>
              <a:rPr lang="de-DE" dirty="0"/>
              <a:t>		ein Boolean</a:t>
            </a:r>
          </a:p>
          <a:p>
            <a:pPr marL="0" indent="0">
              <a:buNone/>
            </a:pPr>
            <a:r>
              <a:rPr lang="de-DE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de-DE" dirty="0"/>
              <a:t>				fehlendes Objekt (null)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A150-BC39-4EE9-A571-B48FEAB7C0BD}" type="datetime1">
              <a:rPr lang="de-DE" smtClean="0"/>
              <a:t>12.01.2026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27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5DE4-AC77-AEDC-A06E-5E008A9F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online ausprobieren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F75A-4382-DD57-E09F-8B526303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https://jsonlint.com/</a:t>
            </a:r>
            <a:endParaRPr lang="de-DE" dirty="0"/>
          </a:p>
          <a:p>
            <a:r>
              <a:rPr lang="de-DE" dirty="0"/>
              <a:t>Beispielobjekt Quader: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"laenge": 5,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"breite": 3,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"hoehe": 7,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"farbe": "#FF0000"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DF122-C28B-6BB7-D247-69ED233C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F7E6C-6055-4FBC-8660-E9A1D248A943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56292-3BDA-40EE-4732-717B0F4F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ADF0C-0E89-1649-76D7-8BF38AC2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49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5DE4-AC77-AEDC-A06E-5E008A9F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Menschenlesbar?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F75A-4382-DD57-E09F-8B526303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Immernoch ein Quader: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"l": 5,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"b": 3,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"h": 7,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"c": [255, 0, 0]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}</a:t>
            </a:r>
          </a:p>
          <a:p>
            <a:r>
              <a:rPr lang="de-DE" dirty="0"/>
              <a:t>Auch noch ein Quader: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"d": [5,3,7],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	"c": [255,0,0]</a:t>
            </a:r>
          </a:p>
          <a:p>
            <a:pPr marL="457200" lvl="1" indent="0">
              <a:buNone/>
            </a:pPr>
            <a:r>
              <a:rPr lang="de-DE" sz="2000" dirty="0">
                <a:latin typeface="Consolas" panose="020B0609020204030204" pitchFamily="49" charset="0"/>
              </a:rPr>
              <a:t>}</a:t>
            </a:r>
          </a:p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DF122-C28B-6BB7-D247-69ED233C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F487C-CEFA-4E2A-902B-25650CAC9584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56292-3BDA-40EE-4732-717B0F4F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ADF0C-0E89-1649-76D7-8BF38AC2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400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1DFE-5CE3-4381-BE1E-7307ADF45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in Dart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DA24-EB83-C6DC-2FD3-1473F455A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 Klasse bekommt zwei Methoden:</a:t>
            </a:r>
          </a:p>
          <a:p>
            <a:pPr lvl="1"/>
            <a:r>
              <a:rPr lang="de-DE" dirty="0"/>
              <a:t>toJson() konvertiert ein Objekt in einen (JSON-) String</a:t>
            </a:r>
          </a:p>
          <a:p>
            <a:pPr lvl="1"/>
            <a:r>
              <a:rPr lang="de-DE" dirty="0"/>
              <a:t>fromJson() konvert einen String in ein Objekt</a:t>
            </a:r>
          </a:p>
          <a:p>
            <a:pPr lvl="1"/>
            <a:r>
              <a:rPr lang="de-DE" dirty="0"/>
              <a:t>toJson() ist nicht statisch - sie muss auf einem Objekt aufgerufen werden.</a:t>
            </a:r>
          </a:p>
          <a:p>
            <a:pPr lvl="1"/>
            <a:r>
              <a:rPr lang="de-DE" dirty="0"/>
              <a:t>fromJson() ist statisch - wir haben noch nichts und wollen ein Objekt bekommen</a:t>
            </a:r>
            <a:br>
              <a:rPr lang="de-DE" dirty="0"/>
            </a:br>
            <a:r>
              <a:rPr lang="de-DE" dirty="0"/>
              <a:t>In Dart nennt zählt eine solche Funktion als vollwertiger Konstruktor (Named Constructor)</a:t>
            </a:r>
          </a:p>
          <a:p>
            <a:r>
              <a:rPr lang="de-DE" dirty="0"/>
              <a:t>Die Listen-Klase von Dart verfügt bereits über beide Methoden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346CB-BB8A-90FF-5EB9-2D9AB53E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8E37-3FAB-4528-86E9-39D2BE33C569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C616E-EE8D-A6C7-8375-D8980404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62D15-1A8A-DCC0-4C75-75142827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58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866E-35F4-B937-B170-6CA3365E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in Dart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CC004-5ACB-C5FF-7A4A-8919772C7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Funktion jsonEncode() ruft toJson() auf und wandelt danach die Map in einen String um.</a:t>
            </a:r>
          </a:p>
          <a:p>
            <a:r>
              <a:rPr lang="de-DE" dirty="0"/>
              <a:t>Die Funktion jsonDecode() nimmt den String, wandelt ihn in eine Map um und ruft fromJson() auf.</a:t>
            </a:r>
          </a:p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795DE-6BED-8C78-755F-AD23B112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E300-33CB-4EA8-BEBC-F12BFD885AF3}" type="datetime1">
              <a:rPr lang="de-DE" smtClean="0"/>
              <a:t>12.01.2026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FF0C9-2374-BC98-1D88-D76996F2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Datenspeicherung mit JSON in Android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455DC-DD88-8A1A-8DED-2BBD6FB1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F27E2-D58A-4028-9FF2-B12D897F257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1235136"/>
      </p:ext>
    </p:extLst>
  </p:cSld>
  <p:clrMapOvr>
    <a:masterClrMapping/>
  </p:clrMapOvr>
</p:sld>
</file>

<file path=ppt/theme/theme1.xml><?xml version="1.0" encoding="utf-8"?>
<a:theme xmlns:a="http://schemas.openxmlformats.org/drawingml/2006/main" name="Titel">
  <a:themeElements>
    <a:clrScheme name="Mitutoyo">
      <a:dk1>
        <a:sysClr val="windowText" lastClr="000000"/>
      </a:dk1>
      <a:lt1>
        <a:sysClr val="window" lastClr="FFFFFF"/>
      </a:lt1>
      <a:dk2>
        <a:srgbClr val="004990"/>
      </a:dk2>
      <a:lt2>
        <a:srgbClr val="E7E6E6"/>
      </a:lt2>
      <a:accent1>
        <a:srgbClr val="F47836"/>
      </a:accent1>
      <a:accent2>
        <a:srgbClr val="004990"/>
      </a:accent2>
      <a:accent3>
        <a:srgbClr val="008000"/>
      </a:accent3>
      <a:accent4>
        <a:srgbClr val="FF0000"/>
      </a:accent4>
      <a:accent5>
        <a:srgbClr val="7030A0"/>
      </a:accent5>
      <a:accent6>
        <a:srgbClr val="0099FF"/>
      </a:accent6>
      <a:hlink>
        <a:srgbClr val="70AD47"/>
      </a:hlink>
      <a:folHlink>
        <a:srgbClr val="70AD47"/>
      </a:folHlink>
    </a:clrScheme>
    <a:fontScheme name="Mitutoy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L Presentation 16x9_germ.potx" id="{D5D4711A-B19B-4761-ABF9-6C72D42F92B0}" vid="{320327DC-FBB5-4B9E-97F1-92C995F322B8}"/>
    </a:ext>
  </a:extLst>
</a:theme>
</file>

<file path=ppt/theme/theme2.xml><?xml version="1.0" encoding="utf-8"?>
<a:theme xmlns:a="http://schemas.openxmlformats.org/drawingml/2006/main" name="Inhalt">
  <a:themeElements>
    <a:clrScheme name="Mitutoyo">
      <a:dk1>
        <a:sysClr val="windowText" lastClr="000000"/>
      </a:dk1>
      <a:lt1>
        <a:sysClr val="window" lastClr="FFFFFF"/>
      </a:lt1>
      <a:dk2>
        <a:srgbClr val="004990"/>
      </a:dk2>
      <a:lt2>
        <a:srgbClr val="E7E6E6"/>
      </a:lt2>
      <a:accent1>
        <a:srgbClr val="F47836"/>
      </a:accent1>
      <a:accent2>
        <a:srgbClr val="004990"/>
      </a:accent2>
      <a:accent3>
        <a:srgbClr val="008000"/>
      </a:accent3>
      <a:accent4>
        <a:srgbClr val="FF0000"/>
      </a:accent4>
      <a:accent5>
        <a:srgbClr val="7030A0"/>
      </a:accent5>
      <a:accent6>
        <a:srgbClr val="0099FF"/>
      </a:accent6>
      <a:hlink>
        <a:srgbClr val="70AD47"/>
      </a:hlink>
      <a:folHlink>
        <a:srgbClr val="70AD47"/>
      </a:folHlink>
    </a:clrScheme>
    <a:fontScheme name="Mitutoy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L Presentation 16x9_germ.potx" id="{D5D4711A-B19B-4761-ABF9-6C72D42F92B0}" vid="{D3EFD16F-7334-4F6B-801D-B30887E0EFC7}"/>
    </a:ext>
  </a:extLst>
</a:theme>
</file>

<file path=ppt/theme/theme3.xml><?xml version="1.0" encoding="utf-8"?>
<a:theme xmlns:a="http://schemas.openxmlformats.org/drawingml/2006/main" name="Office">
  <a:themeElements>
    <a:clrScheme name="Mitutoyo">
      <a:dk1>
        <a:sysClr val="windowText" lastClr="000000"/>
      </a:dk1>
      <a:lt1>
        <a:sysClr val="window" lastClr="FFFFFF"/>
      </a:lt1>
      <a:dk2>
        <a:srgbClr val="004990"/>
      </a:dk2>
      <a:lt2>
        <a:srgbClr val="E7E6E6"/>
      </a:lt2>
      <a:accent1>
        <a:srgbClr val="F47836"/>
      </a:accent1>
      <a:accent2>
        <a:srgbClr val="004990"/>
      </a:accent2>
      <a:accent3>
        <a:srgbClr val="92D050"/>
      </a:accent3>
      <a:accent4>
        <a:srgbClr val="FFFF00"/>
      </a:accent4>
      <a:accent5>
        <a:srgbClr val="7030A0"/>
      </a:accent5>
      <a:accent6>
        <a:srgbClr val="00B0F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Mitutoyo">
      <a:dk1>
        <a:sysClr val="windowText" lastClr="000000"/>
      </a:dk1>
      <a:lt1>
        <a:sysClr val="window" lastClr="FFFFFF"/>
      </a:lt1>
      <a:dk2>
        <a:srgbClr val="004990"/>
      </a:dk2>
      <a:lt2>
        <a:srgbClr val="E7E6E6"/>
      </a:lt2>
      <a:accent1>
        <a:srgbClr val="F47836"/>
      </a:accent1>
      <a:accent2>
        <a:srgbClr val="004990"/>
      </a:accent2>
      <a:accent3>
        <a:srgbClr val="92D050"/>
      </a:accent3>
      <a:accent4>
        <a:srgbClr val="FFFF00"/>
      </a:accent4>
      <a:accent5>
        <a:srgbClr val="7030A0"/>
      </a:accent5>
      <a:accent6>
        <a:srgbClr val="00B0F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CTL Presentation 16x9_germ</Template>
  <TotalTime>0</TotalTime>
  <Words>406</Words>
  <Application>Microsoft Office PowerPoint</Application>
  <PresentationFormat>Widescreen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Wingdings</vt:lpstr>
      <vt:lpstr>Titel</vt:lpstr>
      <vt:lpstr>Inhalt</vt:lpstr>
      <vt:lpstr>Datenspeicherung / Persistenz </vt:lpstr>
      <vt:lpstr>JSON als Datenformat</vt:lpstr>
      <vt:lpstr>JSON</vt:lpstr>
      <vt:lpstr>JSON online ausprobieren</vt:lpstr>
      <vt:lpstr>Menschenlesbar?</vt:lpstr>
      <vt:lpstr>JSON in Dart</vt:lpstr>
      <vt:lpstr>JSON in Dart</vt:lpstr>
    </vt:vector>
  </TitlesOfParts>
  <Company>Mitutoyo CTL Germany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Datenspeicherung / Persistenz </dc:title>
  <dc:creator>Thomas Weller</dc:creator>
  <cp:lastModifiedBy>Thomas Weller</cp:lastModifiedBy>
  <cp:revision>7</cp:revision>
  <dcterms:created xsi:type="dcterms:W3CDTF">2023-06-05T07:06:35Z</dcterms:created>
  <dcterms:modified xsi:type="dcterms:W3CDTF">2026-01-12T10:27:04Z</dcterms:modified>
</cp:coreProperties>
</file>